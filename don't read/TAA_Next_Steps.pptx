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</a:rPr>
              <a:t>Roadmap for System Enhancement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Rimac Group  |  Investment Committee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NEXT STEPS  -  SYSTEM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1207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1089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</a:rPr>
              <a:t>BACKTESTING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3108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Strategy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48840"/>
            <a:ext cx="3657599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59" y="2368296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Build signal-level PnL attribution: measure IC and IR per signal per AC (2013-2026).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9" y="3081528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Simulate tilt-level backtest: taa_scorecard -&gt; weekly tilt -&gt; simulated portfolio vs SAA.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9" y="3794760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1246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Compute: Sharpe ratio of tilt overlay; hit rate; maximum drawdown; regime performance (risk-on / risk-off / inflation).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9" y="4507992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2569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Validate 35/65 absolute/relative blend against alternative splits (50/50, 0/100).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59" y="5221224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Validate pillar weights: confirm 25/25/25/25 equal weights vs current weights in-sample.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9" y="5934456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Target: backtesting engine operational within 2 weeks.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18872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207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188720"/>
            <a:ext cx="31089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</a:rPr>
              <a:t>MORE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719072"/>
            <a:ext cx="3108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Expanding the Signal Universe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148840"/>
            <a:ext cx="3657599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2368296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286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Shiller CAPE (US Equity, V): 10Y real earnings PE. Data computable from existing H3+H5 inputs.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081528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9992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CFTC COT Positioning (US Equity S, LT Tsy S): net speculator longs as contrarian signal. Requires FRED COT data download.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3794760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71246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DXY Momentum (EM Equity M): 3-6M DXY trend as EM capital flow signal.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507992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42569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GDP Revision Composite (All EQ/credit, F): pct_change of consensus GDP as leading indicator.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221224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51389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Credit Cycle Index: CDX IG + OAS BBB + term spread composite for cross-AC credit regime.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5934456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852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Target: 2-3 priority signals added per quarter after IC validation.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1188720"/>
            <a:ext cx="50292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1207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1188720"/>
            <a:ext cx="31089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</a:rPr>
              <a:t>ROBUSTNESS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1719072"/>
            <a:ext cx="3108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</a:rPr>
              <a:t>System Hardening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2148840"/>
            <a:ext cx="3657599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2368296"/>
            <a:ext cx="109728" cy="1097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22860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Live data integration: Bloomberg API connection to automate Dashboard_TAA_Inputs.xlsx refresh (eliminate manual download step).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3081528"/>
            <a:ext cx="109728" cy="1097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29992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Signal decay analysis: monitor IC by signal quarterly; flag signals with IC &lt; 0.02 for review.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3794760"/>
            <a:ext cx="109728" cy="1097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371246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Regime-conditional scoring: develop VIX/MOVE regime classifier to auto-adjust conviction thresholds in high-vol environments.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4507992"/>
            <a:ext cx="109728" cy="1097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0" y="442569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Multi-period scoring: replace single weekly snapshot with 4-week rolling average of z-scores to reduce noise.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5221224"/>
            <a:ext cx="109728" cy="1097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0" y="51389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IC Presentation automation: generate slides from scorecard data automatically (same pipeline as index.html).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5934456"/>
            <a:ext cx="109728" cy="1097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58521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Target: robustness features implemented H2 2026.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NEXT STEP 1: BACKTESTING 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BACKTESTING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64208"/>
            <a:ext cx="53035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Signal 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828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Information coefficient (rank correlation) between z_t and AC return over 1M/3M/6M horizons. Target IC &gt; 0.03 per signal.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95728"/>
            <a:ext cx="53035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Pillar 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514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Information ratio of each pillar composite vs actual AC returns. Validates pillar weights and transform choices.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81528"/>
            <a:ext cx="53035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Tilt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200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Weekly: z_composite -&gt; conviction -&gt; tilt -&gt; portfolio_weight. Monthly rebalancing to match IC process.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67328"/>
            <a:ext cx="53035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886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PnL decomposed by: pillar source (F/M/S/V), AC, and portfolio (IGCON/IGMOD/IGDIN/IGEQUS).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53128"/>
            <a:ext cx="53035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Regime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572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Performance split by: risk-on (VIX&lt;20), risk-off (VIX&gt;25), inflation (CPI&gt;3%), recession (PMI&lt;48).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38928"/>
            <a:ext cx="53035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EXPECTED OUTPUTS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64208"/>
            <a:ext cx="539496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920240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Signal IC report: IC by series_id, sorted by pillar (validates top signals)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578608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4871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Pillar Sharpe: Sharpe ratio per pillar per AC across full backtest window (2013-2026)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236975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145535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Portfolio PnL: simulated tilt overlay return vs SAA for all 4 Rimac portfolios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895343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803903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Optimal weights: data-driven pillar weights (expected to confirm ~25/25/25/25)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553711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46227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Drawdown analysis: maximum tilt drawdown and recovery time by AC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5212079"/>
            <a:ext cx="109728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512063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IC decay chart: how long does signal remain predictive after generation?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532120"/>
            <a:ext cx="5394960" cy="1005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577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KEY PERFORMANCE TARGETS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897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IC per signal &gt; 0.03  |  Pillar IR &gt; 0.25  |  Tilt overlay Sharpe &gt; 0.4  |  Positive hit rate &gt; 55%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NEXT STEP 2: EXPANDING THE SIGNAL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Priority signals for Phase 2 (after IC backtesting validation)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1161288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72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5727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Pillar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5727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5727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5727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5727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Academic Basis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65960"/>
            <a:ext cx="116128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9842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Shiller 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8424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9842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US Equity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9842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H3 (EPS) + H5 (CPI) - computed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9842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842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Campbell &amp; Shiller (1988); 10Y real PE is the strongest long-run equity valuation anchor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14600"/>
            <a:ext cx="11612880" cy="530352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5328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CFTC COT Positioning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5328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5328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US Equity, LT Tsy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53288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FRED - CFTCSP500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53288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3288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De Roon, Nijman &amp; Veld (2000): speculator positioning is contrarian at extremes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063240"/>
            <a:ext cx="116128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0815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DXY Momentum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08152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081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EM Equity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81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H5 (DXY) - already available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0815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500"/>
                </a:solidFill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0815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Burnside et al. (2011): USD trend leads EM capital flows; exclude if S pillar DXY already used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11880"/>
            <a:ext cx="11612880" cy="530352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630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GDP Revision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363016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36301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All EQ/credit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6301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H1 custom - pct_change(21d)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63016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500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63016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Ang &amp; Bekaert (2007): GDP revision rate more predictive than level for equity returns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160520"/>
            <a:ext cx="116128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17880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Credit Cycle Index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178807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F/S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417880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All FI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417880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OAS+CDX composite - computed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4178807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500"/>
                </a:solidFill>
              </a:rP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178807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Duffie &amp; Singleton (1999): credit cycle leads macro cycle by 2-3 quarters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709159"/>
            <a:ext cx="11612880" cy="530352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72744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Shiller CAPE Intl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4727447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472744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DM Equity, EM Equity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472744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</a:rPr>
              <a:t>H4 (PE) - existing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727447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22"/>
                </a:solidFill>
              </a:rPr>
              <a:t>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727447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22"/>
                </a:solidFill>
              </a:rPr>
              <a:t>Claus &amp; Thomas (2001): international CAPE predicts DM equity returns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623560"/>
            <a:ext cx="11612880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66928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Rule: Every new signal must have (1) verifiable data in Dashboard_TAA_Inputs.xlsx, (2) IC &gt; 0.03 in backtest, (3) distinct economic mechanism from existing signals in same pillar (no double-counting), (4) IC Committee approval.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NEXT STEP 3: SYSTEM ROBUSTNESS &amp; 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ROBUSTNESS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27632"/>
            <a:ext cx="54864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Bloomberg API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Automate Dashboard_TAA_Inputs.xlsx refresh. Eliminate manual data download. Target: fully automated weekly pipeline.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95728"/>
            <a:ext cx="5486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Signal Decay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514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Track IC by signal quarterly. Flag signals with IC &lt; 0.02 for review and potential deactivation.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81528"/>
            <a:ext cx="5486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Regime-Conditional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00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Auto-adjust conviction thresholds when VIX &gt; 25 (high-vol regime). Reduce tilt magnitudes by 30% in stress regimes.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67328"/>
            <a:ext cx="5486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Multi-Period Smoothing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886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4-week rolling average of z-scores before conviction mapping. Reduces noise from single-week data artifacts.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53128"/>
            <a:ext cx="5486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Automated IC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572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Generate slides directly from taa_scorecard.csv pipeline. Eliminate manual slide updates.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38928"/>
            <a:ext cx="548640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IMPLEMENTATION TIMELINE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27632"/>
            <a:ext cx="539496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828800"/>
            <a:ext cx="534924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856231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May - Jun 2026  |  NEAR TERM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203704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1305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Backtest engine implementation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551176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4780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Signal IC report (all 97 signals)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898648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8254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Equal pillar weights validated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246120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31729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Bibliography added to presentation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685031"/>
            <a:ext cx="534924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712463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Jul - Sep 2026  |  MEDIUM TERM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059935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986783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Phase 2 signals: Shiller CAPE + COT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407407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334255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Bloomberg API data integration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754879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1968" y="4681727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Regime-conditional scoring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02351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50291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2nd IC Committee presentation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541263"/>
            <a:ext cx="534924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5568695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Oct - Dec 2026  |  LONGER TERM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5916167"/>
            <a:ext cx="9144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5843015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Automated slide generation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6263639"/>
            <a:ext cx="9144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6190487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Multi-period smoothing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6611111"/>
            <a:ext cx="9144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653795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Full performance attribution report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6958583"/>
            <a:ext cx="9144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688543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</a:rPr>
              <a:t>Annual model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