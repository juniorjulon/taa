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</a:rPr>
              <a:t>SIGNAL ENGINE &amp; TRANSFORM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Why Does the Same Data Require Different Transformations?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98448"/>
            <a:ext cx="11521440" cy="594360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22233"/>
                </a:solidFill>
              </a:rPr>
              <a:t>A z-score always answers: "How far is today's value from its reference, in units of its own historical variability?" The reference and the variability are defined differently for each series — because each series has a different statistical nature, a different relevant time horizon, and a different economic meaning.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011680"/>
            <a:ext cx="370332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20299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WHAT IS x_t?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450592"/>
            <a:ext cx="3520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The raw input varies:
• Level (PMI = 52.3)
• Rate of change (EPS revision +2.1%/month)
• Percentile rank (OAS at 35th pctile)
• Composite (price momentum index)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4572000"/>
            <a:ext cx="370332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5902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008B8B"/>
                </a:solidFill>
              </a:rPr>
              <a:t>Different inputs → different transforms needed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11680"/>
            <a:ext cx="370332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20299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WHAT IS μ_t?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450592"/>
            <a:ext cx="3520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The reference mean varies:
• EWMA-weighted recent mean → adapts to regime
• Equal-weight 10Y rolling mean → long-cycle anchor
• Empirical median (implicit in percentile)
• Zero (for diff-based signals)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4572000"/>
            <a:ext cx="370332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79" y="45902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1A56DB"/>
                </a:solidFill>
              </a:rPr>
              <a:t>Different reference → different z-scale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011680"/>
            <a:ext cx="370332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202996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WHAT IS σ_t?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2450592"/>
            <a:ext cx="35204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22233"/>
                </a:solidFill>
              </a:rPr>
              <a:t>The variability varies:
• EWMA-weighted std → regime-specific volatility
• Rolling std over fixed window → stable denominator
• Range width (in percentile approach)
• Empirical std of rate-of-change series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4572000"/>
            <a:ext cx="3703320" cy="347472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459028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7C3AED"/>
                </a:solidFill>
              </a:rPr>
              <a:t>Different denominator → z-scores not directly comparable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047488"/>
            <a:ext cx="11521440" cy="5029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074920"/>
            <a:ext cx="5486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z_t  =  ( x_t  −  μ_t )  /  σ_t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1206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ADCFC"/>
                </a:solidFill>
              </a:rPr>
              <a:t>The transform code determines HOW each of these three quantities is computed.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</a:rPr>
              <a:t>SIGNAL ENGINE &amp; TRANSFORM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How Series Properties Drive Transform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11521440" cy="365760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222233"/>
                </a:solidFill>
              </a:rPr>
              <a:t>Decision rule: the transform is chosen to match the statistical properties of the raw series and the economic question being asked — not to produce comparable absolute z-scores.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19072"/>
            <a:ext cx="1463040" cy="676656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82880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ewma_z</a:t>
            </a:r>
          </a:p>
        </p:txBody>
      </p:sp>
      <p:sp>
        <p:nvSpPr>
          <p:cNvPr id="9" name="Rectangle 8"/>
          <p:cNvSpPr/>
          <p:nvPr/>
        </p:nvSpPr>
        <p:spPr>
          <a:xfrm>
            <a:off x="1801368" y="1719072"/>
            <a:ext cx="10058400" cy="676656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75564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Is today's LEVEL unusual vs recent trend?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66543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Stationary, regime-changing (PMI, VIX, FCI, CESI)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8366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33"/>
                </a:solidFill>
              </a:rPr>
              <a:t>EWMA 756d (~3Y)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8288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B8B"/>
                </a:solidFill>
              </a:rPr>
              <a:t>Lo (2001) — EWMA statistics stable in non-stationary series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432304"/>
            <a:ext cx="1463040" cy="6766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2542032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rolling_z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1368" y="2432304"/>
            <a:ext cx="10058400" cy="676656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4519" y="24688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Is today's LEVEL unusual vs a full valuation cycle?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77977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Slow-moving, secular cycle (ERP, breakevens, term spread)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596896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33"/>
                </a:solidFill>
              </a:rPr>
              <a:t>Rolling 1260–2520d (5–10Y)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542032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56DB"/>
                </a:solidFill>
              </a:rPr>
              <a:t>Fama &amp; French (1993) — 10Y window for value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145536"/>
            <a:ext cx="1463040" cy="67665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3255264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pctile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1368" y="3145536"/>
            <a:ext cx="10058400" cy="676656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4519" y="31821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Where does today's VALUE rank historically?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493008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Fat-tailed, skewed (OAS spreads, yield levels)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310128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33"/>
                </a:solidFill>
              </a:rPr>
              <a:t>Rolling 1260d (5Y)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2552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C3AED"/>
                </a:solidFill>
              </a:rPr>
              <a:t>McNeil et al. (2015) — rank-based for heavy-tailed distributions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858768"/>
            <a:ext cx="1463040" cy="676656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968496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mom_z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01368" y="3858768"/>
            <a:ext cx="10058400" cy="676656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74519" y="389534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Is today's RATE OF CHANGE unusual?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206240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Slow series where acceleration matters (EPS revisions)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402336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33"/>
                </a:solidFill>
              </a:rPr>
              <a:t>pct_change(63d) + EWMA 756d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96849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E58A00"/>
                </a:solidFill>
              </a:rPr>
              <a:t>Chan, Jegadeesh &amp; Lakonishok (1996) — revision momentum 3–6M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572000"/>
            <a:ext cx="1463040" cy="676656"/>
          </a:xfrm>
          <a:prstGeom prst="rect">
            <a:avLst/>
          </a:prstGeom>
          <a:solidFill>
            <a:srgbClr val="C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7472" y="4681728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price_mom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01368" y="4572000"/>
            <a:ext cx="10058400" cy="676656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74519" y="4608576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Is price TRENDING across multiple horizons?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74519" y="491947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Non-stationary price index (TR equity, TR FI)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736592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33"/>
                </a:solidFill>
              </a:rPr>
              <a:t>12-1M (40%) + 3M (25%) + MA (25%) + RSI (10%)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6817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02030"/>
                </a:solidFill>
              </a:rPr>
              <a:t>Jegadeesh &amp; Titman (1993); Asness et al. (2013)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85232"/>
            <a:ext cx="1463040" cy="676656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539496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inv_mom_z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01368" y="5285232"/>
            <a:ext cx="10058400" cy="676656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74519" y="5321808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2233"/>
                </a:solidFill>
              </a:rPr>
              <a:t>Is the series FALLING faster than usual? (falling = good)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4519" y="5632704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8888"/>
                </a:solidFill>
              </a:rPr>
              <a:t>Spread/yield: compression is bullish for the asset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449824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222233"/>
                </a:solidFill>
              </a:rPr>
              <a:t>diff(21d or 63d) + EWMA 756d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3949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A4B"/>
                </a:solidFill>
              </a:rPr>
              <a:t>Koijen et al. (2018) — carry via spread compression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</a:rPr>
              <a:t>SIGNAL ENGINE &amp; TRANSFORM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Worked Examples: Why the Same Number Gives Different Z-Scores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5532120" cy="2487168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32120" cy="38404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EXAMPLE 1: VIX = 20  (ewma_z)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7393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2016 — calm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79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EWMA mean: 14.2  |  EWMA std: 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22233"/>
                </a:solidFill>
              </a:rPr>
              <a:t>z = (20−14.2)/4.1 = +1.41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920240"/>
            <a:ext cx="777240" cy="457200"/>
          </a:xfrm>
          <a:prstGeom prst="rect">
            <a:avLst/>
          </a:prstGeom>
          <a:solidFill>
            <a:srgbClr val="C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7" y="1956815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+1.41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14015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C02030"/>
                </a:solidFill>
              </a:rPr>
              <a:t>ELEVATED: market stress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724912"/>
            <a:ext cx="5440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6148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2233"/>
                </a:solidFill>
              </a:rPr>
              <a:t>2023 — post-COVID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999232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EWMA mean: 19.3  |  EWMA std: 5.2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200400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22233"/>
                </a:solidFill>
              </a:rPr>
              <a:t>z = (20−19.3)/5.2 = +0.13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2907792"/>
            <a:ext cx="777240" cy="4572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33087" y="2944368"/>
            <a:ext cx="7498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+0.13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0156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8A4B"/>
                </a:solidFill>
              </a:rPr>
              <a:t>NEUTRAL: VIX within recent norm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639312"/>
            <a:ext cx="5532120" cy="384048"/>
          </a:xfrm>
          <a:prstGeom prst="rect">
            <a:avLst/>
          </a:prstGeom>
          <a:solidFill>
            <a:srgbClr val="E8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3675887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A4B"/>
                </a:solidFill>
              </a:rPr>
              <a:t>→ EWMA adapts to the volatility REGIME. Same VIX=20 is alarming in 2016, ordinary in 2023.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1280160"/>
            <a:ext cx="5577840" cy="2487168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1280160"/>
            <a:ext cx="557784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129844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EXAMPLE 2: OAS HY = 400 bps  (pctile vs rolling_z)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1737360"/>
            <a:ext cx="54681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77393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2233"/>
                </a:solidFill>
              </a:rPr>
              <a:t>rolling_z approach
(NOT used for OAS)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084831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5Y roll mean: 430bps  |  5Y roll std: 180bps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2860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22233"/>
                </a:solidFill>
              </a:rPr>
              <a:t>z = (400−430)/180 = −0.17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49840" y="1920240"/>
            <a:ext cx="685800" cy="45720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68128" y="1956815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−0.17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404872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8A4B"/>
                </a:solidFill>
              </a:rPr>
              <a:t>PROBLEM: A single crisis (1,000bps) inflates mean+std → underweights true cheapness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724912"/>
            <a:ext cx="546811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C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76148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2233"/>
                </a:solidFill>
              </a:rPr>
              <a:t>pctile approach
(USED for OAS)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07238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5Y rank: 400bps is at 38th percentile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273552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22233"/>
                </a:solidFill>
              </a:rPr>
              <a:t>z = (0.38−0.50)×4 = −0.48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149840" y="2907792"/>
            <a:ext cx="6858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8128" y="2944368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−0.48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3392424"/>
            <a:ext cx="5394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7C3AED"/>
                </a:solidFill>
              </a:rPr>
              <a:t>ROBUST: No distributional assumption. Crisis spike doesn't distort the scoring.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639312"/>
            <a:ext cx="5577840" cy="384048"/>
          </a:xfrm>
          <a:prstGeom prst="rect">
            <a:avLst/>
          </a:prstGeom>
          <a:solidFill>
            <a:srgbClr val="F0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3675887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C3AED"/>
                </a:solidFill>
              </a:rPr>
              <a:t>→ pctile is robust to fat tails. McNeil, Frey &amp; Embrechts (2015): rank-based scoring for heavy-tailed distributions.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160520"/>
            <a:ext cx="11521440" cy="1719072"/>
          </a:xfrm>
          <a:prstGeom prst="rect">
            <a:avLst/>
          </a:prstGeom>
          <a:solidFill>
            <a:srgbClr val="F5F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20040" y="4160520"/>
            <a:ext cx="11521440" cy="347472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178808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EXAMPLE 3: Why EPS Revisions Use mom_z Instead of ewma_z of the Level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5720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4617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02030"/>
                </a:solidFill>
              </a:rPr>
              <a:t>ewma_z(EPS level)
(NOT used)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9834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Forward EPS = $275 (current)  |  EWMA mean (756d) = $240
z = (275−240)/25 = +1.40 → ALWAYS bullish (EPS grows secularly)
Problem: secular growth trend → perpetually positive z → no signal value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572000"/>
            <a:ext cx="5486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17920" y="46177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8A4B"/>
                </a:solidFill>
              </a:rPr>
              <a:t>mom_z = ewma_z(pct_change(63d))
(USED)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7920" y="49834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233"/>
                </a:solidFill>
              </a:rPr>
              <a:t>3M EPS change = +2.1%  |  EWMA mean of 3M changes = +0.8%
z = (2.1−0.8)/1.3 = +1.00 → Acceleration in upgrades
Captures: "are analysts revising faster or slower than usual?" — the real signal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58521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008A4B"/>
                </a:solidFill>
              </a:rPr>
              <a:t>Chan, Jegadeesh &amp; Lakonishok (1996): earnings revision MOMENTUM — not the level — has the highest information coefficient for equity returns.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ADCFC"/>
                </a:solidFill>
              </a:rPr>
              <a:t>SIGNAL ENGINE &amp; TRANSFORM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20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Summary: Transform Selection Decision Matrix  +  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11521440" cy="411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307592"/>
            <a:ext cx="11338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Z-scores are NOT directly comparable across transforms. Each transform answers a different economic question about a different property of its series. The pillar composite standardises them back to common scale.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8288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801368"/>
            <a:ext cx="17556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8840" y="1783080"/>
            <a:ext cx="228600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801368"/>
            <a:ext cx="221284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Economic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783080"/>
            <a:ext cx="210312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801368"/>
            <a:ext cx="202996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Series Type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783080"/>
            <a:ext cx="201168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01368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Why this transform?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783080"/>
            <a:ext cx="173736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1801368"/>
            <a:ext cx="16642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Key Paper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7000" y="1783080"/>
            <a:ext cx="1737360" cy="34747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1801368"/>
            <a:ext cx="1664207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Current examples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76272"/>
            <a:ext cx="182880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48840" y="2176272"/>
            <a:ext cx="228600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34840" y="2176272"/>
            <a:ext cx="210312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2176272"/>
            <a:ext cx="201168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49640" y="2176272"/>
            <a:ext cx="173736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87000" y="2176272"/>
            <a:ext cx="173736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2176272"/>
            <a:ext cx="1828800" cy="6400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23408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ewma_z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2221991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Is level unusual vs RECENT trend?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2221991"/>
            <a:ext cx="20116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Stationary, fast-signal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2221991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EWMA adapts to regime changes
(Lo 2001)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2221991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King &amp; Sentana (1994)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51008" y="2221991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PMI, VIX, FCI, CESI, DXY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816352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148840" y="2816352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34840" y="2816352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37960" y="2816352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49640" y="281635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87000" y="281635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2816352"/>
            <a:ext cx="1828800" cy="6400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298094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rolling_z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12848" y="286207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Is level unusual vs CYCLE history?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98848" y="2862072"/>
            <a:ext cx="20116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Slow, secular-cycle signal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1968" y="286207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Equal-weight window = stable long-run anchor
(Fama &amp; French 1993)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13648" y="286207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Fama &amp; French (1993)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8" y="286207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ERP, breakevens, term spread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456432"/>
            <a:ext cx="182880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48840" y="3456432"/>
            <a:ext cx="228600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34840" y="3456432"/>
            <a:ext cx="210312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37960" y="3456432"/>
            <a:ext cx="201168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49640" y="3456432"/>
            <a:ext cx="173736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287000" y="3456432"/>
            <a:ext cx="173736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3456432"/>
            <a:ext cx="1828800" cy="6400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4048" y="36210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pctile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12848" y="350215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Where does it rank historically?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98848" y="3502152"/>
            <a:ext cx="20116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Fat-tailed, skewed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1968" y="350215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Rank-based = robust to crisis spikes
(McNeil et al. 2015)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3648" y="350215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McNeil et al. (2015)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51008" y="350215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OAS BBB/HY/EM, yield levels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4096512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148840" y="4096512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34840" y="4096512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37960" y="4096512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549640" y="409651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287000" y="409651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20040" y="4096512"/>
            <a:ext cx="1828800" cy="640080"/>
          </a:xfrm>
          <a:prstGeom prst="rect">
            <a:avLst/>
          </a:prstGeom>
          <a:solidFill>
            <a:srgbClr val="E5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4048" y="426110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mom_z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212848" y="414223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Is the RATE OF CHANGE unusual?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98848" y="4142232"/>
            <a:ext cx="20116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Slow series, acceleration matters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01968" y="414223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Level has secular trend; change has IC
(Chan et al. 1996)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13648" y="414223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Chan, Jegadeesh
&amp; Lakonishok (1996)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51008" y="414223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EPS revisions 3M/6M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4736592"/>
            <a:ext cx="182880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48840" y="4736592"/>
            <a:ext cx="228600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434840" y="4736592"/>
            <a:ext cx="210312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537960" y="4736592"/>
            <a:ext cx="201168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49640" y="4736592"/>
            <a:ext cx="173736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287000" y="4736592"/>
            <a:ext cx="1737360" cy="640080"/>
          </a:xfrm>
          <a:prstGeom prst="rect">
            <a:avLst/>
          </a:prstGeom>
          <a:solidFill>
            <a:srgbClr val="F8F9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0040" y="4736592"/>
            <a:ext cx="1828800" cy="640080"/>
          </a:xfrm>
          <a:prstGeom prst="rect">
            <a:avLst/>
          </a:prstGeom>
          <a:solidFill>
            <a:srgbClr val="C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4048" y="490118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price_mom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212848" y="478231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Is price trending across horizons?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498848" y="4782312"/>
            <a:ext cx="20116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Non-stationary price index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01968" y="478231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12-1M skip avoids ST reversal
(Jegadeesh-Titman 1993)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613648" y="478231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Jegadeesh &amp; Titman
(1993); Asness (2013)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51008" y="478231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SP500 TR, EAFE TR, CEMBI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20040" y="5376672"/>
            <a:ext cx="1828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148840" y="5376672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434840" y="5376672"/>
            <a:ext cx="21031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537960" y="5376672"/>
            <a:ext cx="2011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549640" y="537667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287000" y="5376672"/>
            <a:ext cx="1737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0040" y="5376672"/>
            <a:ext cx="1828800" cy="640080"/>
          </a:xfrm>
          <a:prstGeom prst="rect">
            <a:avLst/>
          </a:prstGeom>
          <a:solidFill>
            <a:srgbClr val="008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4048" y="554126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inv_mom_z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12848" y="5422392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Is the series FALLING (tightening)?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98848" y="5422392"/>
            <a:ext cx="201167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Spread or yield — falling=bullish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601968" y="54223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Invert so compression = positive signal
(Koijen et al. 2018)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613648" y="542239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Koijen, Moskowitz,
Pedersen (2018)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351008" y="5422392"/>
            <a:ext cx="16459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33"/>
                </a:solidFill>
              </a:rPr>
              <a:t>OAS momentum, GT10 momentum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040" y="6080760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Bibliography: Lo (2001) FAJ | Fama &amp; French (1993) JFE | McNeil, Frey &amp; Embrechts (2015) PUP | Chan, Jegadeesh &amp; Lakonishok (1996) JF | Jegadeesh &amp; Titman (1993) JF | Asness, Moskowitz &amp; Pedersen (2013) JF | Koijen, Moskowitz, Pedersen &amp; Vrugt (2018) JFE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04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88"/>
                </a:solidFill>
              </a:rPr>
              <a:t>Rimac Group  |  Investment Committee  |  May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