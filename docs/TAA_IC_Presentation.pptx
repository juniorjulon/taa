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91840"/>
            <a:ext cx="88239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ASSET ALLOCATION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Methodology &amp; Signal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Committee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 |  May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 SYSTEM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77640" cy="41148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10 active asset classes across 4 signal pillars (F · M · S · V)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composite z-scores to conviction-based tilts around SAA benchmarks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no short positions — Solvency II / insurance mandate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 real portfolios with TE budgets of 50–125 bps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active signals · 170 data series · weekly refresh cycle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taa_config.xlsx + Dashboard_TAA_Inputs.xlsx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594360"/>
          <a:ext cx="4434840" cy="41148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32588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Hierarchy 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FI (USD)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Treasuries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within LT FI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Corporate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within LT FI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EM Corp (CEMBI)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within LT FI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 (Broad)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Parent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within US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within US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ex-US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SIGNAL PILLARS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class is scored across four independent dimensions — each anchored to a distinct economic mechanism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2103120" cy="39776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96112"/>
            <a:ext cx="210312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326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4264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macro backdrop support this AC?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1920240" cy="1828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975104"/>
            <a:ext cx="1956816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composites (mfg + svcs / 2)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consensus forecasts — blended current/next year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 economic surprise indices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EPS revisions (1M · 3M+6M composite)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Fed Funds rate &amp; inflation breakevens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logic: growth signals INVERTED for duration ACs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896112"/>
            <a:ext cx="2103120" cy="39776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896112"/>
            <a:ext cx="210312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4" name="Text 12"/>
          <p:cNvSpPr/>
          <p:nvPr/>
        </p:nvSpPr>
        <p:spPr>
          <a:xfrm>
            <a:off x="2532888" y="9326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16936" y="932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2888" y="14264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price trend constructive?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32888" y="1901952"/>
            <a:ext cx="1920240" cy="1828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1975104"/>
            <a:ext cx="1956816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price momentum: 12-1M (40%) + 3M (25%) + MA cross (25%) + RSI (10%)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 spread momentum — 1M + 3M weighted, inverted (tightening = positive)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momentum (inverted: falling yields = positive)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CDX IG / HY synthetic index momentum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10 ACs via total return price indices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0016" y="896112"/>
            <a:ext cx="2103120" cy="39776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896112"/>
            <a:ext cx="210312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9326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75504" y="932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91456" y="14264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positioning &amp; stress signalling tell us?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91456" y="1901952"/>
            <a:ext cx="1920240" cy="1828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1975104"/>
            <a:ext cx="1956816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— contrarian for equity; flight-to-quality for FI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(bond vol) · VSTOXX (European vol)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CBOE Put/Call Ratio (PCR) — contrarian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AAII Bull-Bear — contrarian, inverted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US/EZ FCI — tight FCI = headwind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TED spread (SOFR-based, gated 2018+)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override: all tilts = 0 if VIX &amp; MOVE both &gt; 80th pctile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58584" y="896112"/>
            <a:ext cx="2103120" cy="39776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58584" y="896112"/>
            <a:ext cx="210312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8" name="Text 26"/>
          <p:cNvSpPr/>
          <p:nvPr/>
        </p:nvSpPr>
        <p:spPr>
          <a:xfrm>
            <a:off x="7050024" y="9326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34072" y="932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50024" y="14264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 cheap or expensive?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50024" y="1901952"/>
            <a:ext cx="1920240" cy="1828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2" name="Text 30"/>
          <p:cNvSpPr/>
          <p:nvPr/>
        </p:nvSpPr>
        <p:spPr>
          <a:xfrm>
            <a:off x="7031736" y="1975104"/>
            <a:ext cx="1956816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Score — rolling percentile of forward P/E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Risk Premium = EY% − TIPS 10Y%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PE — log(PE_AC / PE_peer)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 level percentile (1260-day window since 1999)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level &amp; term spread percentile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HY/IG OAS ratio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Philosophy: mean-reversion anchor, paired with Momentum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NORMALISATION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97 signals output a z-score clipped to ±3σ before pillar aggregation. Six transform codes standardise raw series into dimensionless z-scores.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595360" cy="2487168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1828800"/>
                <a:gridCol w="28346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ewma_z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EWMA(x, span) → (x − μ) / 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 trading days (~3Y)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VIX, DXY, FCI, PMI composites, TED spread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mean &amp; std → z-score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series (config-driven)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Breakevens, ERP, term spread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 rank → (p − 0.5) ×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series (e.g. 1260d for OAS)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 levels, yield levels — mean-reversion signals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mom_z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pct_change(window) → ewma_z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21d or 63d + 756d EWMA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revisions, GDP revisions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price_mom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40%×12-1M + 25%×3M + 25%×MA cross + 10%×RSI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252d / 63d / 50d / 14d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equity &amp; FI total return price indices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inv_mom_z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−ewma_z(diff(window)) — falling series = positive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21d or 63d + 756d EWMA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 spreads, yields (spread/yield falling = bullish)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493008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QUALITY RULES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3749040"/>
            <a:ext cx="4160520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3749040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" y="37856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02336" y="39684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MIN_DATE_FOR_SIGNALS = 2013-02-01. EWMA span=756 trading days (~3Y). Data starts 2010-12-31. Signals only reliable after full warm-up period.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63440" y="3749040"/>
            <a:ext cx="4160520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3749040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4" name="Text 11"/>
          <p:cNvSpPr/>
          <p:nvPr/>
        </p:nvSpPr>
        <p:spPr>
          <a:xfrm>
            <a:off x="4791456" y="37856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protection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91456" y="39684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&gt; 5σ set to NaN before momentum computation (prevents flash-crash contamination). All z-scores hard-clipped at ±3.0 before pillar aggregation.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74320" y="4407408"/>
            <a:ext cx="4160520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4407408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8" name="Text 15"/>
          <p:cNvSpPr/>
          <p:nvPr/>
        </p:nvSpPr>
        <p:spPr>
          <a:xfrm>
            <a:off x="402336" y="4443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modern_ted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02336" y="46268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at 2018-04-01 (SOFR inception). Before 2018 entirely NaN — gating prevents EWMA distortion. Reliable from ~2020-12.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63440" y="4407408"/>
            <a:ext cx="4160520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4407408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2" name="Text 19"/>
          <p:cNvSpPr/>
          <p:nvPr/>
        </p:nvSpPr>
        <p:spPr>
          <a:xfrm>
            <a:off x="4791456" y="4443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limits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91456" y="46268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prices: max 5 days (weekends + 1 holiday). Monthly PMI/CESI: max 31 days. AAII weekly: 7 days spread to business days.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DETAIL — FUNDAMENTALS (F) AND MOMENTUM (M)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48640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548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FUNDAMENTALS  —  Key signals &amp; weights by asset class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22960"/>
          <a:ext cx="8778240" cy="2743200"/>
        </p:xfrm>
        <a:graphic>
          <a:graphicData uri="http://schemas.openxmlformats.org/drawingml/2006/table">
            <a:tbl>
              <a:tblPr/>
              <a:tblGrid>
                <a:gridCol w="1783080"/>
                <a:gridCol w="6995160"/>
              </a:tblGrid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Signals &amp; Weights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Fed Funds Rate (50%) · Breakeven 5Y (25%) · Nominal Fed Rate (25%)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−PMI US (30%) · −CESI US (25%) · −GDP US Blended (25%) · −Breakeven 10Y (20%)   [growth signals INVERTED]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Treasuries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−PMI US (30%) · −CESI US (25%) · −GDP US Blended (25%) · −Breakeven 10Y (20%)   [growth signals INVERTED]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Corporate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 US (30%) · CESI US (25%) · EPS Revision US (30%) · −Breakeven 10Y (15%)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EM FI (CEMBI)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 China (30%) · CESI EM (25%) · GDP EM Blended (25%) · EPS Revision EM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 US (35%) · CESI US (25%) · GDP US Blended (20%) · EPS Revision US (15%) · −Breakeven 5Y (5%)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US Equity (signal set identical — pillar weights differ)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 US (30%) · CESI US (25%) · EPS Revision US (30%) · −Breakeven 10Y (15%)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ex-US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 EZ (25%) · CESI EZ (25%) · GDP DM (15%) · EPS EAFE (15%) · PMI Japan (10%) · GDP Japan (5%) · EPS Japan (5%)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 China (30%) · CESI EM (25%) · GDP EM Blended (25%) · EPS Revision EM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3639312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MOMENTUM  —  Key signals &amp; weights by asset class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904488"/>
          <a:ext cx="8778240" cy="795528"/>
        </p:xfrm>
        <a:graphic>
          <a:graphicData uri="http://schemas.openxmlformats.org/drawingml/2006/table">
            <a:tbl>
              <a:tblPr/>
              <a:tblGrid>
                <a:gridCol w="1783080"/>
                <a:gridCol w="6995160"/>
              </a:tblGrid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Signals &amp; Weights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FI Price Mom (60%) · GT02 Yield Mom (40%)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Bloomberg FI TR Mom (35%) · USD Corp TR Mom (20%) · GT02 Yield Mom (20%) · BBB OAS Mom (15%) · CDX IG Mom (10%)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Treasuries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Bloomberg Gov TR Mom (45%) · GT10 Yield Mom (35%) · BBB OAS Mom (20%) [credit stress = flight to quality for UST]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Corporate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 OAS Mom (30%) · CDX IG Mom (20%) · HY OAS Mom (20%) · FI Price Mom (20%) · GT10 Mom (10%)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EM FI (CEMBI)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OAS Mom (40%) · MSCI EM Price Mom (35%) · LatAm OAS Mom (25%) [EM equity leads EM credit]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TR Price Mom (55%) · HY OAS Mom (25%) · CDX HY Mom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Growth TR Price Mom (70%) · CDX HY Mom (30%)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Value TR Price Mom (55%) · BBB OAS Mom (25%) · CDX IG Mom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ex-US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MSCI EAFE Price Mom (65%) · MSCI ACWI Price Mom (35%)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MSCI EM Price Mom (60%) · EM OAS Mom (40%)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DETAIL — SENTIMENT (S) AND VALUATION (V)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48640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548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SENTIMENT  —  Key signals &amp; weights by asset class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22960"/>
          <a:ext cx="8778240" cy="2743200"/>
        </p:xfrm>
        <a:graphic>
          <a:graphicData uri="http://schemas.openxmlformats.org/drawingml/2006/table">
            <a:tbl>
              <a:tblPr/>
              <a:tblGrid>
                <a:gridCol w="1783080"/>
                <a:gridCol w="6995160"/>
              </a:tblGrid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Signals &amp; Weights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TED Spread (40%) · HY Stress safe-haven (30%) · VIX flight-to-quality (30%)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flight-to-quality (40%) · TED Spread (35%) · HY Stress safe-haven (25%)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Treasuries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flight-to-quality (35%) · TED Spread (25%) · HY Stress safe-haven (20%) · MOVE bond vol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Corporate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inverted/risk-off (30%) · CDX HY price (25%) · HY Stress inverted (25%) · TED inverted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EM FI (CEMBI)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DXY inverted/USD headwind (30%) · EMBI inverted (30%) · EM Stress inverted (20%) · VIX inverted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contrarian (30%) · AAII Bull-Bear inverted (20%) · PCR contrarian (15%) · FCI inverted (15%) · CDX HY (15%) · TED inverted (5%)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US Equity (VIX 30% · AAII 20% · PCR 15% · FCI 15% · CDX HY 15% · TED 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US Equity (VIX 30% · AAII 20% · PCR 15% · FCI 15% · CDX HY 15% · TED 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ex-US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contrarian (30%) · VSTOXX European vol contrarian (25%) · CDX HY (30%) · TED inverted (15%)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3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DXY inverted (30%) · EMBI inverted (25%) · VIX contrarian (25%) · EM Stress inverted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3639312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VALUATION  —  Key signals &amp; weights by asset class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904488"/>
          <a:ext cx="8778240" cy="795528"/>
        </p:xfrm>
        <a:graphic>
          <a:graphicData uri="http://schemas.openxmlformats.org/drawingml/2006/table">
            <a:tbl>
              <a:tblPr/>
              <a:tblGrid>
                <a:gridCol w="1783080"/>
                <a:gridCol w="6995160"/>
              </a:tblGrid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Signals &amp; Weights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GT02 Yield Level pctile (50%) · Term Spread (25%) · TIPS 5Y Level (25%)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GT02 Yield Level (35%) · BBB OAS Level pctile (25%) · Term Spread (20%) · TIPS 5Y Level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Treasuries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GT10 Yield Level pctile (35%) · TIPS 10Y Level (30%) · Term Spread (25%) · BBB OAS Level (10%)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Corporate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 OAS Level pctile (35%) · HY OAS Level pctile (25%) · HY/IG OAS Ratio (20%) · GT10 Level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EM FI (CEMBI)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OAS Level pctile (45%) · GT10 Yield Level (30%) · LatAm OAS Level pctile (25%)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Score (40%) · ERP = EY − TIPS 10Y% (40%) · Relative PE vs EM (20%)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Score Growth Index (35%) · ERP (35%) · Relative PE Growth vs Value (30%)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Score Value Index (35%) · ERP (35%) · Relative PE Value vs Growth (30%)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ex-US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Score DM (35%) · ERP ACWI (35%) · Relative PE DM vs US (30%)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Score EM (30%) · ERP EM = EY − TIPS 10Y (30%) · Relative PE EM vs US (25%) · EM OAS Level (15%)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FROM SIGNALS TO COMPOSITE Z-SCORE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75488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594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6126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NORMALISATION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850392"/>
            <a:ext cx="621792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85039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z_i = transform_code(raw_series_i)   →   clip(z_i, −3, +3)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116128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97 raw series → z-score via its assigned transform code. Outlier returns &gt; 5σ set to NaN before momentum computation. Output: 97 normalised z-score time series.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" y="1106424"/>
            <a:ext cx="36576" cy="65836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" y="1783080"/>
            <a:ext cx="475488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18013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SCORE (per AC, per pillar)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2039112"/>
            <a:ext cx="621792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39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Z_pillar = [ Σ (w_i × sign_i × z_i) / Σ w_i(present) ]   →   standardise_pillar()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23500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AC and each pillar {F, M, S, V}: weighted average of assigned signals (sign from SignalMapping). Missing signals skip gracefully with weight redistribution. Re-standardised post-aggregation to restore unit variance. Output: 4 pillar z-score series per AC (40 total).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" y="2295144"/>
            <a:ext cx="36576" cy="65836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2971800"/>
            <a:ext cx="475488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29900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Z-SCORE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" y="3227832"/>
            <a:ext cx="621792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2783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Z_composite = Σ (W_p × Z_p) / Σ W_p(present)   →   clip(−3, +3)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9808" y="35387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scores combined with AC-specific pillar weights (see table). Missing pillars skip with weight redistribution. Clipped at ±3σ. Output: one composite z-score series per AC (10 total).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585216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5" name="Text 23"/>
          <p:cNvSpPr/>
          <p:nvPr/>
        </p:nvSpPr>
        <p:spPr>
          <a:xfrm>
            <a:off x="7196328" y="585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WEIGHTS BY ASSET CLASS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859536"/>
          <a:ext cx="1828800" cy="3931920"/>
        </p:xfrm>
        <a:graphic>
          <a:graphicData uri="http://schemas.openxmlformats.org/drawingml/2006/table">
            <a:tbl>
              <a:tblPr/>
              <a:tblGrid>
                <a:gridCol w="914400"/>
                <a:gridCol w="228600"/>
                <a:gridCol w="228600"/>
                <a:gridCol w="228600"/>
                <a:gridCol w="228600"/>
              </a:tblGrid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Treasuries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Corporate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EM 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FRAMEWORK: Z-SCORE → TILT SIZING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669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Tilt (%)  =  Tilt_Fraction  ×  Conviction_Multiplier  ×  MAX_TILT_PCT[AC]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CONVICTION MAP (from Z_composite)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4114800" cy="18288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Z_composite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Conviction 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Tilt Fraction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≥ +1.50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Overweight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+0.75 ≤ Z &lt; +1.50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Overweight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−0.75 ≤ Z &lt; +0.75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−1.50 ≤ Z &lt; −0.75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Underweight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−1.50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Underweight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E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005840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0" name="Text 7"/>
          <p:cNvSpPr/>
          <p:nvPr/>
        </p:nvSpPr>
        <p:spPr>
          <a:xfrm>
            <a:off x="4773168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PILLAR AGREEMENT MULTIPLIER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61872"/>
          <a:ext cx="4251960" cy="18288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2240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Pillars Agreeing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conviction — all pillars aligned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conviction — one dissenting pillar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conviction — mixed 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tilt — no actionable consensus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tilt — no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3163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pillar is counted as having signal only when |Z_pillar| &gt; 0.25 (noise filter). Pillars pointing in the majority direction are 'agreeing'.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3493008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4" name="Text 10"/>
          <p:cNvSpPr/>
          <p:nvPr/>
        </p:nvSpPr>
        <p:spPr>
          <a:xfrm>
            <a:off x="384048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MAXIMUM TILT BUDGET BY ASSET CLASS  (before TE portfolio scaling)</a:t>
            </a:r>
            <a:endParaRPr lang="en-US" sz="1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658368"/>
        </p:xfrm>
        <a:graphic>
          <a:graphicData uri="http://schemas.openxmlformats.org/drawingml/2006/table">
            <a:tbl>
              <a:tblPr/>
              <a:tblGrid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Treasuries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US Corp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 EM 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Equity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2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CONSTRUCTION: ABSOLUTE + RELATIVE → FINAL TILT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76072"/>
            <a:ext cx="2834640" cy="27889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76072"/>
            <a:ext cx="2834640" cy="34747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12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ABSOLUTE VIEW  (35% weight)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96696"/>
            <a:ext cx="26517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99669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abs_tilt = Tilt_Frac(Z_composite) × Conv_Mult × MAX_TILT[AC]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99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Kochard (2012)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60020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AC to its own historical z-score distribution.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AC cheap/expensive/bullish vs its own history?"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regime-level attractiveness independent of peers.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576072"/>
            <a:ext cx="2834640" cy="27889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576072"/>
            <a:ext cx="2834640" cy="347472"/>
          </a:xfrm>
          <a:prstGeom prst="rect">
            <a:avLst/>
          </a:prstGeom>
          <a:solidFill>
            <a:srgbClr val="1A3A6A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612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RELATIVE VIEW  (65% weight)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64408" y="996696"/>
            <a:ext cx="26517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282696" y="99669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Z_rel = (Z_comp − μ_cs) / σ_cs     rel_tilt = Tilt_Frac(Z_rel) × Conv_Mult × MAX_TILT[AC]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64408" y="1399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ranking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4408" y="160020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each AC vs all other ACs on the same date.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and σ computed cross-sectionally across all 10 ACs.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AC do I prefer over others today?"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discipline — avoids being overweight everything in bull markets.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576072"/>
            <a:ext cx="2834640" cy="27889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576072"/>
            <a:ext cx="283464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612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FINAL TILT BLEND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54496" y="996696"/>
            <a:ext cx="265176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99669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final_tilt = 0.35 × abs_tilt  +  0.65 × rel_tilt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54496" y="1399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blend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54496" y="160020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view provides regime anchor (35%).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view enforces ranking discipline (65%).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views share the same conviction multiplier.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final_tilt (%) per AC before portfolio constraints.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3438144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CONSTRAINTS  (applied after blending, in order)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3694176"/>
            <a:ext cx="4224528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694176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" y="373075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ZERO-SUM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0896" y="392277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tilts = 0 across all ACs (no net leverage). Excess redistributed proportionally among positive-SAA ACs. Money Market absorbs any residual.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45152" y="3694176"/>
            <a:ext cx="4224528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3694176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73075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SHORTS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3168" y="392277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portfolio_weight = SAA_weight + tilt ≥ 0% at all times. Weight hard-clipped at 0%. Solvency II / insurance mandate — no short positions ever.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" y="4352544"/>
            <a:ext cx="4224528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4352544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7" name="Text 35"/>
          <p:cNvSpPr/>
          <p:nvPr/>
        </p:nvSpPr>
        <p:spPr>
          <a:xfrm>
            <a:off x="310896" y="438912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 SCALING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0896" y="458114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portfolio scales tilts by (TE_budget / 100 bps): IGCON 0.5× · IGMOD 0.75× · IGDIN 1.0× · IGEQUS 1.25×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45152" y="4352544"/>
            <a:ext cx="4224528" cy="56692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45152" y="4352544"/>
            <a:ext cx="64008" cy="5669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438912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CRISIS OVERRIDE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458114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&gt; 80th pctile AND MOVE &gt; 80th pctile simultaneously → all tilts forced to 0. Override lifts when both return below 70th pctile.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STRUCTURE AND PORTFOLIO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VIEWS — Two layers of decision-making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420624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22960"/>
            <a:ext cx="4206240" cy="31089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595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ALLOCATION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40233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across all 10 ACs — decides WHERE to allocate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Equity, DM, EM, MM, STFI: own composite z IS the L1 view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FI bucket uses SYNTHETIC aggregate z-score: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Z_lt_fi = 0.40 × Z_lt_tsy + 0.35 × Z_lt_corp + 0.25 × Z_lt_em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tilts determine the size of the FI/EQ allocation shift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20624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20624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595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ROTATION (within bucket)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170432"/>
            <a:ext cx="40233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Within-bucket zero-sum rotation — decides WHICH child to prefer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LT FI: Z_L2 = Z_child − Z_lt_fi_agg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US Equity: Z_L2 = Z_child − Z_us_equity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tilts are independent of L1 sizing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Value rotation driven entirely by L2 z-scores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2487168"/>
            <a:ext cx="54864" cy="25603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PORTFOLIOS — Rimac Group Insurance Mandates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743200"/>
          <a:ext cx="8778240" cy="1481328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777240"/>
                <a:gridCol w="1097280"/>
                <a:gridCol w="2697480"/>
                <a:gridCol w="6400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 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SAA: MM / STFI / LT EM / US Eq / DM /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Tilt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IGCON_USD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Conservador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/ 25% / 30% / 19.2% / 7.5% / 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IGMOD_USD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Moderado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/ 15% / 25% / 32.0% / 12.5% / 5.5%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IGDIN_USD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Dinámico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/ 10% / 15% / 44.8% / 17.5% / 7.7%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IGEQUS_USD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Acciones EE.UU.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/ 0% / 0% / 95.0% / 0% / 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274320" y="42793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portfolios have force_zero_sum = True — no leverage, no short positions at any time.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82880" y="4480560"/>
            <a:ext cx="8778240" cy="256032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44897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foundations:  Brinson/Hood/Beebower (1986) — allocation explains 80–90% of variance  ·  Wang &amp; Kochard (2012) — 35/65 abs/rel blend  ·  Asness/Moskowitz/Pedersen (2013) — value + momentum everywhere  ·  Maillard/Roncalli/Teïletche (2010) — hierarchical risk parity  ·  Chan/Jegadeesh/Lakonishok (1996) — earnings revision momentum at 3–6M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965192"/>
            <a:ext cx="8595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Group — Investment Committee | May 2026 | CONFIDENTIAL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TAA System — Investment Committee</dc:title>
  <dc:subject>PptxGenJS Presentation</dc:subject>
  <dc:creator>Rimac Group</dc:creator>
  <cp:lastModifiedBy>Rimac Group</cp:lastModifiedBy>
  <cp:revision>1</cp:revision>
  <dcterms:created xsi:type="dcterms:W3CDTF">2026-05-13T05:34:42Z</dcterms:created>
  <dcterms:modified xsi:type="dcterms:W3CDTF">2026-05-13T05:34:42Z</dcterms:modified>
</cp:coreProperties>
</file>